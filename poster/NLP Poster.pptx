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30240288" cy="21383625"/>
  <p:notesSz cx="6858000" cy="9144000"/>
  <p:embeddedFontLst>
    <p:embeddedFont>
      <p:font typeface="Consolas" panose="020B0609020204030204" pitchFamily="49" charset="0"/>
      <p:regular r:id="rId3"/>
      <p:bold r:id="rId4"/>
      <p:italic r:id="rId5"/>
      <p:boldItalic r:id="rId6"/>
    </p:embeddedFont>
    <p:embeddedFont>
      <p:font typeface="Kermit Semibold Expanded" panose="020F0503040000060003" pitchFamily="34" charset="0"/>
      <p:bold r:id="rId7"/>
      <p:boldItalic r:id="rId8"/>
    </p:embeddedFont>
    <p:embeddedFont>
      <p:font typeface="Libre Baskerville" panose="02000000000000000000" pitchFamily="2" charset="0"/>
      <p:regular r:id="rId9"/>
      <p:bold r:id="rId10"/>
      <p:italic r:id="rId11"/>
    </p:embeddedFont>
    <p:embeddedFont>
      <p:font typeface="Montserrat Light" panose="00000400000000000000" pitchFamily="2" charset="0"/>
      <p:regular r:id="rId12"/>
      <p:italic r:id="rId13"/>
    </p:embeddedFont>
  </p:embeddedFontLst>
  <p:custDataLst>
    <p:tags r:id="rId1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554" kern="1200">
        <a:solidFill>
          <a:schemeClr val="tx1"/>
        </a:solidFill>
        <a:latin typeface="Arial"/>
        <a:ea typeface="+mn-ea"/>
        <a:cs typeface="+mn-cs"/>
      </a:defRPr>
    </a:lvl1pPr>
    <a:lvl2pPr marL="307202" algn="l" rtl="0" fontAlgn="base">
      <a:spcBef>
        <a:spcPct val="0"/>
      </a:spcBef>
      <a:spcAft>
        <a:spcPct val="0"/>
      </a:spcAft>
      <a:defRPr sz="2554" kern="1200">
        <a:solidFill>
          <a:schemeClr val="tx1"/>
        </a:solidFill>
        <a:latin typeface="Arial"/>
        <a:ea typeface="+mn-ea"/>
        <a:cs typeface="+mn-cs"/>
      </a:defRPr>
    </a:lvl2pPr>
    <a:lvl3pPr marL="614403" algn="l" rtl="0" fontAlgn="base">
      <a:spcBef>
        <a:spcPct val="0"/>
      </a:spcBef>
      <a:spcAft>
        <a:spcPct val="0"/>
      </a:spcAft>
      <a:defRPr sz="2554" kern="1200">
        <a:solidFill>
          <a:schemeClr val="tx1"/>
        </a:solidFill>
        <a:latin typeface="Arial"/>
        <a:ea typeface="+mn-ea"/>
        <a:cs typeface="+mn-cs"/>
      </a:defRPr>
    </a:lvl3pPr>
    <a:lvl4pPr marL="921606" algn="l" rtl="0" fontAlgn="base">
      <a:spcBef>
        <a:spcPct val="0"/>
      </a:spcBef>
      <a:spcAft>
        <a:spcPct val="0"/>
      </a:spcAft>
      <a:defRPr sz="2554" kern="1200">
        <a:solidFill>
          <a:schemeClr val="tx1"/>
        </a:solidFill>
        <a:latin typeface="Arial"/>
        <a:ea typeface="+mn-ea"/>
        <a:cs typeface="+mn-cs"/>
      </a:defRPr>
    </a:lvl4pPr>
    <a:lvl5pPr marL="1228807" algn="l" rtl="0" fontAlgn="base">
      <a:spcBef>
        <a:spcPct val="0"/>
      </a:spcBef>
      <a:spcAft>
        <a:spcPct val="0"/>
      </a:spcAft>
      <a:defRPr sz="2554" kern="1200">
        <a:solidFill>
          <a:schemeClr val="tx1"/>
        </a:solidFill>
        <a:latin typeface="Arial"/>
        <a:ea typeface="+mn-ea"/>
        <a:cs typeface="+mn-cs"/>
      </a:defRPr>
    </a:lvl5pPr>
    <a:lvl6pPr marL="1536009" algn="l" defTabSz="614403" rtl="0" eaLnBrk="1" latinLnBrk="0" hangingPunct="1">
      <a:defRPr sz="2554" kern="1200">
        <a:solidFill>
          <a:schemeClr val="tx1"/>
        </a:solidFill>
        <a:latin typeface="Arial"/>
        <a:ea typeface="+mn-ea"/>
        <a:cs typeface="+mn-cs"/>
      </a:defRPr>
    </a:lvl6pPr>
    <a:lvl7pPr marL="1843210" algn="l" defTabSz="614403" rtl="0" eaLnBrk="1" latinLnBrk="0" hangingPunct="1">
      <a:defRPr sz="2554" kern="1200">
        <a:solidFill>
          <a:schemeClr val="tx1"/>
        </a:solidFill>
        <a:latin typeface="Arial"/>
        <a:ea typeface="+mn-ea"/>
        <a:cs typeface="+mn-cs"/>
      </a:defRPr>
    </a:lvl7pPr>
    <a:lvl8pPr marL="2150413" algn="l" defTabSz="614403" rtl="0" eaLnBrk="1" latinLnBrk="0" hangingPunct="1">
      <a:defRPr sz="2554" kern="1200">
        <a:solidFill>
          <a:schemeClr val="tx1"/>
        </a:solidFill>
        <a:latin typeface="Arial"/>
        <a:ea typeface="+mn-ea"/>
        <a:cs typeface="+mn-cs"/>
      </a:defRPr>
    </a:lvl8pPr>
    <a:lvl9pPr marL="2457615" algn="l" defTabSz="614403" rtl="0" eaLnBrk="1" latinLnBrk="0" hangingPunct="1">
      <a:defRPr sz="2554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 userDrawn="1">
          <p15:clr>
            <a:srgbClr val="A4A3A4"/>
          </p15:clr>
        </p15:guide>
        <p15:guide id="2" pos="95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52" d="100"/>
          <a:sy n="52" d="100"/>
        </p:scale>
        <p:origin x="2454" y="36"/>
      </p:cViewPr>
      <p:guideLst>
        <p:guide orient="horz" pos="6735"/>
        <p:guide pos="9525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font" Target="fonts/font11.fntdata"/><Relationship Id="rId1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presProps" Target="presProp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459" y="6643197"/>
            <a:ext cx="25703370" cy="4582794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35825" y="12116977"/>
            <a:ext cx="21168639" cy="5465529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280003" indent="0" algn="ctr">
              <a:buNone/>
              <a:defRPr/>
            </a:lvl2pPr>
            <a:lvl3pPr marL="560006" indent="0" algn="ctr">
              <a:buNone/>
              <a:defRPr/>
            </a:lvl3pPr>
            <a:lvl4pPr marL="840010" indent="0" algn="ctr">
              <a:buNone/>
              <a:defRPr/>
            </a:lvl4pPr>
            <a:lvl5pPr marL="1120013" indent="0" algn="ctr">
              <a:buNone/>
              <a:defRPr/>
            </a:lvl5pPr>
            <a:lvl6pPr marL="1400016" indent="0" algn="ctr">
              <a:buNone/>
              <a:defRPr/>
            </a:lvl6pPr>
            <a:lvl7pPr marL="1680019" indent="0" algn="ctr">
              <a:buNone/>
              <a:defRPr/>
            </a:lvl7pPr>
            <a:lvl8pPr marL="1960023" indent="0" algn="ctr">
              <a:buNone/>
              <a:defRPr/>
            </a:lvl8pPr>
            <a:lvl9pPr marL="2240026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8DF5FCE-FDEA-4465-BCF6-C7F63911A9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6170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43242BF-F4C0-49CF-80EA-38D6C064D5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9843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8774" y="13741168"/>
            <a:ext cx="25704463" cy="4246613"/>
          </a:xfrm>
        </p:spPr>
        <p:txBody>
          <a:bodyPr anchor="t"/>
          <a:lstStyle>
            <a:defPPr>
              <a:defRPr kern="1200"/>
            </a:defPPr>
            <a:lvl1pPr algn="l">
              <a:defRPr sz="24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8774" y="9063498"/>
            <a:ext cx="25704463" cy="4677668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224"/>
            </a:lvl1pPr>
            <a:lvl2pPr marL="280003" indent="0">
              <a:buNone/>
              <a:defRPr sz="1102"/>
            </a:lvl2pPr>
            <a:lvl3pPr marL="560006" indent="0">
              <a:buNone/>
              <a:defRPr sz="980"/>
            </a:lvl3pPr>
            <a:lvl4pPr marL="840010" indent="0">
              <a:buNone/>
              <a:defRPr sz="857"/>
            </a:lvl4pPr>
            <a:lvl5pPr marL="1120013" indent="0">
              <a:buNone/>
              <a:defRPr sz="857"/>
            </a:lvl5pPr>
            <a:lvl6pPr marL="1400016" indent="0">
              <a:buNone/>
              <a:defRPr sz="857"/>
            </a:lvl6pPr>
            <a:lvl7pPr marL="1680019" indent="0">
              <a:buNone/>
              <a:defRPr sz="857"/>
            </a:lvl7pPr>
            <a:lvl8pPr marL="1960023" indent="0">
              <a:buNone/>
              <a:defRPr sz="857"/>
            </a:lvl8pPr>
            <a:lvl9pPr marL="2240026" indent="0">
              <a:buNone/>
              <a:defRPr sz="8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29423EF-61E0-492B-A58A-8462960B8B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7207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1577" y="4989100"/>
            <a:ext cx="13556066" cy="14113440"/>
          </a:xfrm>
        </p:spPr>
        <p:txBody>
          <a:bodyPr/>
          <a:lstStyle>
            <a:defPPr>
              <a:defRPr kern="1200"/>
            </a:defPPr>
            <a:lvl1pPr>
              <a:defRPr sz="1715"/>
            </a:lvl1pPr>
            <a:lvl2pPr>
              <a:defRPr sz="1470"/>
            </a:lvl2pPr>
            <a:lvl3pPr>
              <a:defRPr sz="1224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72647" y="4989100"/>
            <a:ext cx="13556066" cy="14113440"/>
          </a:xfrm>
        </p:spPr>
        <p:txBody>
          <a:bodyPr/>
          <a:lstStyle>
            <a:defPPr>
              <a:defRPr kern="1200"/>
            </a:defPPr>
            <a:lvl1pPr>
              <a:defRPr sz="1715"/>
            </a:lvl1pPr>
            <a:lvl2pPr>
              <a:defRPr sz="1470"/>
            </a:lvl2pPr>
            <a:lvl3pPr>
              <a:defRPr sz="1224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0F45B66-FD4B-43D3-97DD-29BBADAFE8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5441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579" y="4786981"/>
            <a:ext cx="13361377" cy="1994403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470" b="1"/>
            </a:lvl1pPr>
            <a:lvl2pPr marL="280003" indent="0">
              <a:buNone/>
              <a:defRPr sz="1224" b="1"/>
            </a:lvl2pPr>
            <a:lvl3pPr marL="560006" indent="0">
              <a:buNone/>
              <a:defRPr sz="1102" b="1"/>
            </a:lvl3pPr>
            <a:lvl4pPr marL="840010" indent="0">
              <a:buNone/>
              <a:defRPr sz="980" b="1"/>
            </a:lvl4pPr>
            <a:lvl5pPr marL="1120013" indent="0">
              <a:buNone/>
              <a:defRPr sz="980" b="1"/>
            </a:lvl5pPr>
            <a:lvl6pPr marL="1400016" indent="0">
              <a:buNone/>
              <a:defRPr sz="980" b="1"/>
            </a:lvl6pPr>
            <a:lvl7pPr marL="1680019" indent="0">
              <a:buNone/>
              <a:defRPr sz="980" b="1"/>
            </a:lvl7pPr>
            <a:lvl8pPr marL="1960023" indent="0">
              <a:buNone/>
              <a:defRPr sz="980" b="1"/>
            </a:lvl8pPr>
            <a:lvl9pPr marL="2240026" indent="0">
              <a:buNone/>
              <a:defRPr sz="9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579" y="6781381"/>
            <a:ext cx="13361377" cy="12320127"/>
          </a:xfrm>
        </p:spPr>
        <p:txBody>
          <a:bodyPr/>
          <a:lstStyle>
            <a:defPPr>
              <a:defRPr kern="1200"/>
            </a:defPPr>
            <a:lvl1pPr>
              <a:defRPr sz="1470"/>
            </a:lvl1pPr>
            <a:lvl2pPr>
              <a:defRPr sz="1224"/>
            </a:lvl2pPr>
            <a:lvl3pPr>
              <a:defRPr sz="1102"/>
            </a:lvl3pPr>
            <a:lvl4pPr>
              <a:defRPr sz="980"/>
            </a:lvl4pPr>
            <a:lvl5pPr>
              <a:defRPr sz="980"/>
            </a:lvl5pPr>
            <a:lvl6pPr>
              <a:defRPr sz="980"/>
            </a:lvl6pPr>
            <a:lvl7pPr>
              <a:defRPr sz="980"/>
            </a:lvl7pPr>
            <a:lvl8pPr>
              <a:defRPr sz="980"/>
            </a:lvl8pPr>
            <a:lvl9pPr>
              <a:defRPr sz="9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61865" y="4786981"/>
            <a:ext cx="13366848" cy="1994403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470" b="1"/>
            </a:lvl1pPr>
            <a:lvl2pPr marL="280003" indent="0">
              <a:buNone/>
              <a:defRPr sz="1224" b="1"/>
            </a:lvl2pPr>
            <a:lvl3pPr marL="560006" indent="0">
              <a:buNone/>
              <a:defRPr sz="1102" b="1"/>
            </a:lvl3pPr>
            <a:lvl4pPr marL="840010" indent="0">
              <a:buNone/>
              <a:defRPr sz="980" b="1"/>
            </a:lvl4pPr>
            <a:lvl5pPr marL="1120013" indent="0">
              <a:buNone/>
              <a:defRPr sz="980" b="1"/>
            </a:lvl5pPr>
            <a:lvl6pPr marL="1400016" indent="0">
              <a:buNone/>
              <a:defRPr sz="980" b="1"/>
            </a:lvl6pPr>
            <a:lvl7pPr marL="1680019" indent="0">
              <a:buNone/>
              <a:defRPr sz="980" b="1"/>
            </a:lvl7pPr>
            <a:lvl8pPr marL="1960023" indent="0">
              <a:buNone/>
              <a:defRPr sz="980" b="1"/>
            </a:lvl8pPr>
            <a:lvl9pPr marL="2240026" indent="0">
              <a:buNone/>
              <a:defRPr sz="9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61865" y="6781381"/>
            <a:ext cx="13366848" cy="12320127"/>
          </a:xfrm>
        </p:spPr>
        <p:txBody>
          <a:bodyPr/>
          <a:lstStyle>
            <a:defPPr>
              <a:defRPr kern="1200"/>
            </a:defPPr>
            <a:lvl1pPr>
              <a:defRPr sz="1470"/>
            </a:lvl1pPr>
            <a:lvl2pPr>
              <a:defRPr sz="1224"/>
            </a:lvl2pPr>
            <a:lvl3pPr>
              <a:defRPr sz="1102"/>
            </a:lvl3pPr>
            <a:lvl4pPr>
              <a:defRPr sz="980"/>
            </a:lvl4pPr>
            <a:lvl5pPr>
              <a:defRPr sz="980"/>
            </a:lvl5pPr>
            <a:lvl6pPr>
              <a:defRPr sz="980"/>
            </a:lvl6pPr>
            <a:lvl7pPr>
              <a:defRPr sz="980"/>
            </a:lvl7pPr>
            <a:lvl8pPr>
              <a:defRPr sz="980"/>
            </a:lvl8pPr>
            <a:lvl9pPr>
              <a:defRPr sz="9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134DC469-4A79-40F8-9FD1-29BC04AA70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6822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77ED9D9-385C-4EF3-825C-DD7EC451E0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0492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D843B82-F4E2-4569-B1E8-B9E053E8F4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5208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578" y="851800"/>
            <a:ext cx="9948845" cy="3622718"/>
          </a:xfrm>
        </p:spPr>
        <p:txBody>
          <a:bodyPr anchor="b"/>
          <a:lstStyle>
            <a:defPPr>
              <a:defRPr kern="1200"/>
            </a:defPPr>
            <a:lvl1pPr algn="l">
              <a:defRPr sz="122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23551" y="851800"/>
            <a:ext cx="16905161" cy="18249711"/>
          </a:xfrm>
        </p:spPr>
        <p:txBody>
          <a:bodyPr/>
          <a:lstStyle>
            <a:defPPr>
              <a:defRPr kern="1200"/>
            </a:defPPr>
            <a:lvl1pPr>
              <a:defRPr sz="1959"/>
            </a:lvl1pPr>
            <a:lvl2pPr>
              <a:defRPr sz="1715"/>
            </a:lvl2pPr>
            <a:lvl3pPr>
              <a:defRPr sz="1470"/>
            </a:lvl3pPr>
            <a:lvl4pPr>
              <a:defRPr sz="1224"/>
            </a:lvl4pPr>
            <a:lvl5pPr>
              <a:defRPr sz="1224"/>
            </a:lvl5pPr>
            <a:lvl6pPr>
              <a:defRPr sz="1224"/>
            </a:lvl6pPr>
            <a:lvl7pPr>
              <a:defRPr sz="1224"/>
            </a:lvl7pPr>
            <a:lvl8pPr>
              <a:defRPr sz="1224"/>
            </a:lvl8pPr>
            <a:lvl9pPr>
              <a:defRPr sz="12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578" y="4474517"/>
            <a:ext cx="9948845" cy="14626993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857"/>
            </a:lvl1pPr>
            <a:lvl2pPr marL="280003" indent="0">
              <a:buNone/>
              <a:defRPr sz="735"/>
            </a:lvl2pPr>
            <a:lvl3pPr marL="560006" indent="0">
              <a:buNone/>
              <a:defRPr sz="613"/>
            </a:lvl3pPr>
            <a:lvl4pPr marL="840010" indent="0">
              <a:buNone/>
              <a:defRPr sz="551"/>
            </a:lvl4pPr>
            <a:lvl5pPr marL="1120013" indent="0">
              <a:buNone/>
              <a:defRPr sz="551"/>
            </a:lvl5pPr>
            <a:lvl6pPr marL="1400016" indent="0">
              <a:buNone/>
              <a:defRPr sz="551"/>
            </a:lvl6pPr>
            <a:lvl7pPr marL="1680019" indent="0">
              <a:buNone/>
              <a:defRPr sz="551"/>
            </a:lvl7pPr>
            <a:lvl8pPr marL="1960023" indent="0">
              <a:buNone/>
              <a:defRPr sz="551"/>
            </a:lvl8pPr>
            <a:lvl9pPr marL="2240026" indent="0">
              <a:buNone/>
              <a:defRPr sz="5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3D2E94D-57D8-45DE-BBE8-59CBB7A5E3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6592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7089" y="14968333"/>
            <a:ext cx="18144393" cy="1767531"/>
          </a:xfrm>
        </p:spPr>
        <p:txBody>
          <a:bodyPr anchor="b"/>
          <a:lstStyle>
            <a:defPPr>
              <a:defRPr kern="1200"/>
            </a:defPPr>
            <a:lvl1pPr algn="l">
              <a:defRPr sz="122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27089" y="1910875"/>
            <a:ext cx="18144393" cy="12829556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959"/>
            </a:lvl1pPr>
            <a:lvl2pPr marL="280003" indent="0">
              <a:buNone/>
              <a:defRPr sz="1715"/>
            </a:lvl2pPr>
            <a:lvl3pPr marL="560006" indent="0">
              <a:buNone/>
              <a:defRPr sz="1470"/>
            </a:lvl3pPr>
            <a:lvl4pPr marL="840010" indent="0">
              <a:buNone/>
              <a:defRPr sz="1224"/>
            </a:lvl4pPr>
            <a:lvl5pPr marL="1120013" indent="0">
              <a:buNone/>
              <a:defRPr sz="1224"/>
            </a:lvl5pPr>
            <a:lvl6pPr marL="1400016" indent="0">
              <a:buNone/>
              <a:defRPr sz="1224"/>
            </a:lvl6pPr>
            <a:lvl7pPr marL="1680019" indent="0">
              <a:buNone/>
              <a:defRPr sz="1224"/>
            </a:lvl7pPr>
            <a:lvl8pPr marL="1960023" indent="0">
              <a:buNone/>
              <a:defRPr sz="1224"/>
            </a:lvl8pPr>
            <a:lvl9pPr marL="2240026" indent="0">
              <a:buNone/>
              <a:defRPr sz="1224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27089" y="16735866"/>
            <a:ext cx="18144393" cy="2508987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857"/>
            </a:lvl1pPr>
            <a:lvl2pPr marL="280003" indent="0">
              <a:buNone/>
              <a:defRPr sz="735"/>
            </a:lvl2pPr>
            <a:lvl3pPr marL="560006" indent="0">
              <a:buNone/>
              <a:defRPr sz="613"/>
            </a:lvl3pPr>
            <a:lvl4pPr marL="840010" indent="0">
              <a:buNone/>
              <a:defRPr sz="551"/>
            </a:lvl4pPr>
            <a:lvl5pPr marL="1120013" indent="0">
              <a:buNone/>
              <a:defRPr sz="551"/>
            </a:lvl5pPr>
            <a:lvl6pPr marL="1400016" indent="0">
              <a:buNone/>
              <a:defRPr sz="551"/>
            </a:lvl6pPr>
            <a:lvl7pPr marL="1680019" indent="0">
              <a:buNone/>
              <a:defRPr sz="551"/>
            </a:lvl7pPr>
            <a:lvl8pPr marL="1960023" indent="0">
              <a:buNone/>
              <a:defRPr sz="551"/>
            </a:lvl8pPr>
            <a:lvl9pPr marL="2240026" indent="0">
              <a:buNone/>
              <a:defRPr sz="5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1FD068A-1390-4726-BE45-AB18C473BC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8895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E3CA81D-4204-48B1-A4D7-36EFD127B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5094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24429" y="855923"/>
            <a:ext cx="6804283" cy="18246618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1577" y="855923"/>
            <a:ext cx="20307849" cy="18246618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B1D08C6D-384C-4677-A8CE-0D580832C4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4977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577" y="855924"/>
            <a:ext cx="27217134" cy="3563938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11577" y="4989100"/>
            <a:ext cx="13556066" cy="14113440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72647" y="4989100"/>
            <a:ext cx="13556066" cy="14113440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B947A3F5-B070-47AF-A223-F33332FE8B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1965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11577" y="855924"/>
            <a:ext cx="27217134" cy="356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70254" tIns="235127" rIns="470254" bIns="235127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11577" y="4989100"/>
            <a:ext cx="27217134" cy="14113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70254" tIns="235127" rIns="470254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11578" y="19473785"/>
            <a:ext cx="7056943" cy="1484974"/>
          </a:xfrm>
          <a:prstGeom prst="rect">
            <a:avLst/>
          </a:prstGeom>
          <a:noFill/>
          <a:ln>
            <a:noFill/>
          </a:ln>
        </p:spPr>
        <p:txBody>
          <a:bodyPr vert="horz" wrap="square" lIns="470254" tIns="235127" rIns="470254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>
              <a:defRPr sz="4349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31662" y="19473785"/>
            <a:ext cx="9576967" cy="1484974"/>
          </a:xfrm>
          <a:prstGeom prst="rect">
            <a:avLst/>
          </a:prstGeom>
          <a:noFill/>
          <a:ln>
            <a:noFill/>
          </a:ln>
        </p:spPr>
        <p:txBody>
          <a:bodyPr vert="horz" wrap="square" lIns="470254" tIns="235127" rIns="470254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>
              <a:defRPr sz="4349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671770" y="19473785"/>
            <a:ext cx="7056943" cy="1484974"/>
          </a:xfrm>
          <a:prstGeom prst="rect">
            <a:avLst/>
          </a:prstGeom>
          <a:noFill/>
          <a:ln>
            <a:noFill/>
          </a:ln>
        </p:spPr>
        <p:txBody>
          <a:bodyPr vert="horz" wrap="square" lIns="470254" tIns="235127" rIns="470254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>
              <a:defRPr sz="4349" smtClean="0">
                <a:latin typeface="Arial" pitchFamily="34" charset="0"/>
              </a:defRPr>
            </a:lvl1pPr>
          </a:lstStyle>
          <a:p>
            <a:pPr>
              <a:defRPr/>
            </a:pPr>
            <a:fld id="{D74CA0E6-19C8-4E24-ACA2-24DF946E6C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4"/>
          <a:stretch>
            <a:fillRect/>
          </a:stretch>
        </p:blipFill>
        <p:spPr>
          <a:xfrm rot="16200000">
            <a:off x="-10571329" y="10801553"/>
            <a:ext cx="13909256" cy="3616701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4"/>
          <a:stretch>
            <a:fillRect/>
          </a:stretch>
        </p:blipFill>
        <p:spPr>
          <a:xfrm rot="5400000">
            <a:off x="26902361" y="10801553"/>
            <a:ext cx="13909256" cy="3616701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5"/>
          <a:stretch>
            <a:fillRect/>
          </a:stretch>
        </p:blipFill>
        <p:spPr>
          <a:xfrm>
            <a:off x="1341680" y="21878616"/>
            <a:ext cx="27556929" cy="1410725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1341679" y="22435482"/>
            <a:ext cx="15120144" cy="12374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189">
                <a:solidFill>
                  <a:srgbClr val="808080"/>
                </a:solidFill>
              </a:rPr>
              <a:t>Template ID: intellectualsage  Size: 36x24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xStyles>
    <p:titleStyle>
      <a:defPPr>
        <a:defRPr kern="1200"/>
      </a:defPPr>
      <a:lvl1pPr algn="ctr" defTabSz="2880729" rtl="0" eaLnBrk="0" fontAlgn="base" hangingPunct="0">
        <a:spcBef>
          <a:spcPct val="0"/>
        </a:spcBef>
        <a:spcAft>
          <a:spcPct val="0"/>
        </a:spcAft>
        <a:defRPr sz="13902">
          <a:solidFill>
            <a:schemeClr val="tx2"/>
          </a:solidFill>
          <a:latin typeface="+mj-lt"/>
          <a:ea typeface="+mj-ea"/>
          <a:cs typeface="+mj-cs"/>
        </a:defRPr>
      </a:lvl1pPr>
      <a:lvl2pPr algn="ctr" defTabSz="2880729" rtl="0" eaLnBrk="0" fontAlgn="base" hangingPunct="0">
        <a:spcBef>
          <a:spcPct val="0"/>
        </a:spcBef>
        <a:spcAft>
          <a:spcPct val="0"/>
        </a:spcAft>
        <a:defRPr sz="13902">
          <a:solidFill>
            <a:schemeClr val="tx2"/>
          </a:solidFill>
          <a:latin typeface="Arial"/>
        </a:defRPr>
      </a:lvl2pPr>
      <a:lvl3pPr algn="ctr" defTabSz="2880729" rtl="0" eaLnBrk="0" fontAlgn="base" hangingPunct="0">
        <a:spcBef>
          <a:spcPct val="0"/>
        </a:spcBef>
        <a:spcAft>
          <a:spcPct val="0"/>
        </a:spcAft>
        <a:defRPr sz="13902">
          <a:solidFill>
            <a:schemeClr val="tx2"/>
          </a:solidFill>
          <a:latin typeface="Arial"/>
        </a:defRPr>
      </a:lvl3pPr>
      <a:lvl4pPr algn="ctr" defTabSz="2880729" rtl="0" eaLnBrk="0" fontAlgn="base" hangingPunct="0">
        <a:spcBef>
          <a:spcPct val="0"/>
        </a:spcBef>
        <a:spcAft>
          <a:spcPct val="0"/>
        </a:spcAft>
        <a:defRPr sz="13902">
          <a:solidFill>
            <a:schemeClr val="tx2"/>
          </a:solidFill>
          <a:latin typeface="Arial"/>
        </a:defRPr>
      </a:lvl4pPr>
      <a:lvl5pPr algn="ctr" defTabSz="2880729" rtl="0" eaLnBrk="0" fontAlgn="base" hangingPunct="0">
        <a:spcBef>
          <a:spcPct val="0"/>
        </a:spcBef>
        <a:spcAft>
          <a:spcPct val="0"/>
        </a:spcAft>
        <a:defRPr sz="13902">
          <a:solidFill>
            <a:schemeClr val="tx2"/>
          </a:solidFill>
          <a:latin typeface="Arial"/>
        </a:defRPr>
      </a:lvl5pPr>
      <a:lvl6pPr marL="280003" algn="ctr" defTabSz="2880729" rtl="0" fontAlgn="base">
        <a:spcBef>
          <a:spcPct val="0"/>
        </a:spcBef>
        <a:spcAft>
          <a:spcPct val="0"/>
        </a:spcAft>
        <a:defRPr sz="13902">
          <a:solidFill>
            <a:schemeClr val="tx2"/>
          </a:solidFill>
          <a:latin typeface="Arial"/>
        </a:defRPr>
      </a:lvl6pPr>
      <a:lvl7pPr marL="560006" algn="ctr" defTabSz="2880729" rtl="0" fontAlgn="base">
        <a:spcBef>
          <a:spcPct val="0"/>
        </a:spcBef>
        <a:spcAft>
          <a:spcPct val="0"/>
        </a:spcAft>
        <a:defRPr sz="13902">
          <a:solidFill>
            <a:schemeClr val="tx2"/>
          </a:solidFill>
          <a:latin typeface="Arial"/>
        </a:defRPr>
      </a:lvl7pPr>
      <a:lvl8pPr marL="840010" algn="ctr" defTabSz="2880729" rtl="0" fontAlgn="base">
        <a:spcBef>
          <a:spcPct val="0"/>
        </a:spcBef>
        <a:spcAft>
          <a:spcPct val="0"/>
        </a:spcAft>
        <a:defRPr sz="13902">
          <a:solidFill>
            <a:schemeClr val="tx2"/>
          </a:solidFill>
          <a:latin typeface="Arial"/>
        </a:defRPr>
      </a:lvl8pPr>
      <a:lvl9pPr marL="1120013" algn="ctr" defTabSz="2880729" rtl="0" fontAlgn="base">
        <a:spcBef>
          <a:spcPct val="0"/>
        </a:spcBef>
        <a:spcAft>
          <a:spcPct val="0"/>
        </a:spcAft>
        <a:defRPr sz="13902">
          <a:solidFill>
            <a:schemeClr val="tx2"/>
          </a:solidFill>
          <a:latin typeface="Arial"/>
        </a:defRPr>
      </a:lvl9pPr>
    </p:titleStyle>
    <p:bodyStyle>
      <a:defPPr>
        <a:defRPr kern="1200"/>
      </a:defPPr>
      <a:lvl1pPr marL="1079180" indent="-1079180" algn="l" defTabSz="2880729" rtl="0" eaLnBrk="0" fontAlgn="base" hangingPunct="0">
        <a:spcBef>
          <a:spcPct val="20000"/>
        </a:spcBef>
        <a:spcAft>
          <a:spcPct val="0"/>
        </a:spcAft>
        <a:buChar char="•"/>
        <a:defRPr sz="10106">
          <a:solidFill>
            <a:schemeClr val="tx1"/>
          </a:solidFill>
          <a:latin typeface="+mn-lt"/>
          <a:ea typeface="+mn-ea"/>
          <a:cs typeface="+mn-cs"/>
        </a:defRPr>
      </a:lvl1pPr>
      <a:lvl2pPr marL="2341138" indent="-901261" algn="l" defTabSz="2880729" rtl="0" eaLnBrk="0" fontAlgn="base" hangingPunct="0">
        <a:spcBef>
          <a:spcPct val="20000"/>
        </a:spcBef>
        <a:spcAft>
          <a:spcPct val="0"/>
        </a:spcAft>
        <a:buChar char="–"/>
        <a:defRPr sz="8819">
          <a:solidFill>
            <a:schemeClr val="tx1"/>
          </a:solidFill>
          <a:latin typeface="+mn-lt"/>
        </a:defRPr>
      </a:lvl2pPr>
      <a:lvl3pPr marL="3600182" indent="-719453" algn="l" defTabSz="2880729" rtl="0" eaLnBrk="0" fontAlgn="base" hangingPunct="0">
        <a:spcBef>
          <a:spcPct val="20000"/>
        </a:spcBef>
        <a:spcAft>
          <a:spcPct val="0"/>
        </a:spcAft>
        <a:buChar char="•"/>
        <a:defRPr sz="7594">
          <a:solidFill>
            <a:schemeClr val="tx1"/>
          </a:solidFill>
          <a:latin typeface="+mn-lt"/>
        </a:defRPr>
      </a:lvl3pPr>
      <a:lvl4pPr marL="5040059" indent="-719453" algn="l" defTabSz="2880729" rtl="0" eaLnBrk="0" fontAlgn="base" hangingPunct="0">
        <a:spcBef>
          <a:spcPct val="20000"/>
        </a:spcBef>
        <a:spcAft>
          <a:spcPct val="0"/>
        </a:spcAft>
        <a:buChar char="–"/>
        <a:defRPr sz="6308">
          <a:solidFill>
            <a:schemeClr val="tx1"/>
          </a:solidFill>
          <a:latin typeface="+mn-lt"/>
        </a:defRPr>
      </a:lvl4pPr>
      <a:lvl5pPr marL="6480909" indent="-720426" algn="l" defTabSz="2880729" rtl="0" eaLnBrk="0" fontAlgn="base" hangingPunct="0">
        <a:spcBef>
          <a:spcPct val="20000"/>
        </a:spcBef>
        <a:spcAft>
          <a:spcPct val="0"/>
        </a:spcAft>
        <a:buChar char="»"/>
        <a:defRPr sz="6308">
          <a:solidFill>
            <a:schemeClr val="tx1"/>
          </a:solidFill>
          <a:latin typeface="+mn-lt"/>
        </a:defRPr>
      </a:lvl5pPr>
      <a:lvl6pPr marL="6760913" indent="-720426" algn="l" defTabSz="2880729" rtl="0" fontAlgn="base">
        <a:spcBef>
          <a:spcPct val="20000"/>
        </a:spcBef>
        <a:spcAft>
          <a:spcPct val="0"/>
        </a:spcAft>
        <a:buChar char="»"/>
        <a:defRPr sz="6308">
          <a:solidFill>
            <a:schemeClr val="tx1"/>
          </a:solidFill>
          <a:latin typeface="+mn-lt"/>
        </a:defRPr>
      </a:lvl6pPr>
      <a:lvl7pPr marL="7040916" indent="-720426" algn="l" defTabSz="2880729" rtl="0" fontAlgn="base">
        <a:spcBef>
          <a:spcPct val="20000"/>
        </a:spcBef>
        <a:spcAft>
          <a:spcPct val="0"/>
        </a:spcAft>
        <a:buChar char="»"/>
        <a:defRPr sz="6308">
          <a:solidFill>
            <a:schemeClr val="tx1"/>
          </a:solidFill>
          <a:latin typeface="+mn-lt"/>
        </a:defRPr>
      </a:lvl7pPr>
      <a:lvl8pPr marL="7320919" indent="-720426" algn="l" defTabSz="2880729" rtl="0" fontAlgn="base">
        <a:spcBef>
          <a:spcPct val="20000"/>
        </a:spcBef>
        <a:spcAft>
          <a:spcPct val="0"/>
        </a:spcAft>
        <a:buChar char="»"/>
        <a:defRPr sz="6308">
          <a:solidFill>
            <a:schemeClr val="tx1"/>
          </a:solidFill>
          <a:latin typeface="+mn-lt"/>
        </a:defRPr>
      </a:lvl8pPr>
      <a:lvl9pPr marL="7600923" indent="-720426" algn="l" defTabSz="2880729" rtl="0" fontAlgn="base">
        <a:spcBef>
          <a:spcPct val="20000"/>
        </a:spcBef>
        <a:spcAft>
          <a:spcPct val="0"/>
        </a:spcAft>
        <a:buChar char="»"/>
        <a:defRPr sz="6308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560006" rtl="0" eaLnBrk="1" latinLnBrk="0" hangingPunct="1">
        <a:defRPr sz="1102" kern="1200">
          <a:solidFill>
            <a:schemeClr val="tx1"/>
          </a:solidFill>
          <a:latin typeface="+mn-lt"/>
          <a:ea typeface="+mn-ea"/>
          <a:cs typeface="+mn-cs"/>
        </a:defRPr>
      </a:lvl1pPr>
      <a:lvl2pPr marL="280003" algn="l" defTabSz="560006" rtl="0" eaLnBrk="1" latinLnBrk="0" hangingPunct="1">
        <a:defRPr sz="1102" kern="1200">
          <a:solidFill>
            <a:schemeClr val="tx1"/>
          </a:solidFill>
          <a:latin typeface="+mn-lt"/>
          <a:ea typeface="+mn-ea"/>
          <a:cs typeface="+mn-cs"/>
        </a:defRPr>
      </a:lvl2pPr>
      <a:lvl3pPr marL="560006" algn="l" defTabSz="560006" rtl="0" eaLnBrk="1" latinLnBrk="0" hangingPunct="1"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40010" algn="l" defTabSz="560006" rtl="0" eaLnBrk="1" latinLnBrk="0" hangingPunct="1">
        <a:defRPr sz="1102" kern="1200">
          <a:solidFill>
            <a:schemeClr val="tx1"/>
          </a:solidFill>
          <a:latin typeface="+mn-lt"/>
          <a:ea typeface="+mn-ea"/>
          <a:cs typeface="+mn-cs"/>
        </a:defRPr>
      </a:lvl4pPr>
      <a:lvl5pPr marL="1120013" algn="l" defTabSz="560006" rtl="0" eaLnBrk="1" latinLnBrk="0" hangingPunct="1">
        <a:defRPr sz="1102" kern="1200">
          <a:solidFill>
            <a:schemeClr val="tx1"/>
          </a:solidFill>
          <a:latin typeface="+mn-lt"/>
          <a:ea typeface="+mn-ea"/>
          <a:cs typeface="+mn-cs"/>
        </a:defRPr>
      </a:lvl5pPr>
      <a:lvl6pPr marL="1400016" algn="l" defTabSz="560006" rtl="0" eaLnBrk="1" latinLnBrk="0" hangingPunct="1">
        <a:defRPr sz="1102" kern="1200">
          <a:solidFill>
            <a:schemeClr val="tx1"/>
          </a:solidFill>
          <a:latin typeface="+mn-lt"/>
          <a:ea typeface="+mn-ea"/>
          <a:cs typeface="+mn-cs"/>
        </a:defRPr>
      </a:lvl6pPr>
      <a:lvl7pPr marL="1680019" algn="l" defTabSz="560006" rtl="0" eaLnBrk="1" latinLnBrk="0" hangingPunct="1">
        <a:defRPr sz="1102" kern="1200">
          <a:solidFill>
            <a:schemeClr val="tx1"/>
          </a:solidFill>
          <a:latin typeface="+mn-lt"/>
          <a:ea typeface="+mn-ea"/>
          <a:cs typeface="+mn-cs"/>
        </a:defRPr>
      </a:lvl7pPr>
      <a:lvl8pPr marL="1960023" algn="l" defTabSz="560006" rtl="0" eaLnBrk="1" latinLnBrk="0" hangingPunct="1">
        <a:defRPr sz="1102" kern="1200">
          <a:solidFill>
            <a:schemeClr val="tx1"/>
          </a:solidFill>
          <a:latin typeface="+mn-lt"/>
          <a:ea typeface="+mn-ea"/>
          <a:cs typeface="+mn-cs"/>
        </a:defRPr>
      </a:lvl8pPr>
      <a:lvl9pPr marL="2240026" algn="l" defTabSz="560006" rtl="0" eaLnBrk="1" latinLnBrk="0" hangingPunct="1">
        <a:defRPr sz="11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BCDCDE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406F193C-8566-41B6-8625-E7C934BB073C}"/>
              </a:ext>
            </a:extLst>
          </p:cNvPr>
          <p:cNvSpPr/>
          <p:nvPr/>
        </p:nvSpPr>
        <p:spPr bwMode="auto">
          <a:xfrm>
            <a:off x="350004" y="1031723"/>
            <a:ext cx="29540281" cy="3837937"/>
          </a:xfrm>
          <a:prstGeom prst="round2DiagRect">
            <a:avLst/>
          </a:prstGeom>
          <a:solidFill>
            <a:srgbClr val="43808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6001" tIns="28000" rIns="56001" bIns="28000" numCol="1" rtlCol="0" anchor="t" anchorCtr="0" compatLnSpc="1">
            <a:prstTxWarp prst="textNoShape">
              <a:avLst/>
            </a:prstTxWarp>
          </a:bodyPr>
          <a:lstStyle/>
          <a:p>
            <a:pPr defTabSz="2880729"/>
            <a:endParaRPr lang="en-US" sz="2327"/>
          </a:p>
        </p:txBody>
      </p:sp>
      <p:sp>
        <p:nvSpPr>
          <p:cNvPr id="20" name="Title 11">
            <a:extLst>
              <a:ext uri="{FF2B5EF4-FFF2-40B4-BE49-F238E27FC236}">
                <a16:creationId xmlns:a16="http://schemas.microsoft.com/office/drawing/2014/main" id="{EE7A5C51-35F0-4B71-992D-43D344D16C04}"/>
              </a:ext>
            </a:extLst>
          </p:cNvPr>
          <p:cNvSpPr txBox="1"/>
          <p:nvPr/>
        </p:nvSpPr>
        <p:spPr>
          <a:xfrm>
            <a:off x="856460" y="1908511"/>
            <a:ext cx="28587368" cy="1682303"/>
          </a:xfrm>
          <a:prstGeom prst="rect">
            <a:avLst/>
          </a:prstGeom>
        </p:spPr>
        <p:txBody>
          <a:bodyPr lIns="78401" tIns="39200" rIns="78401" bIns="39200"/>
          <a:lstStyle>
            <a:defPPr>
              <a:defRPr lang="en-US"/>
            </a:defPPr>
            <a:lvl1pPr marL="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03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0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12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16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19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23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2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31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512" dirty="0">
                <a:solidFill>
                  <a:schemeClr val="bg1"/>
                </a:solidFill>
                <a:latin typeface="Libre Baskerville" panose="02000000000000000000" pitchFamily="2" charset="0"/>
              </a:rPr>
              <a:t>Semantic Similarity in Latent Space for LLM Prediction Evaluation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1F3AA395-C058-4F87-B3A3-A8A8BC543EF9}"/>
              </a:ext>
            </a:extLst>
          </p:cNvPr>
          <p:cNvSpPr txBox="1"/>
          <p:nvPr/>
        </p:nvSpPr>
        <p:spPr>
          <a:xfrm>
            <a:off x="826460" y="3338135"/>
            <a:ext cx="28587368" cy="633615"/>
          </a:xfrm>
          <a:prstGeom prst="rect">
            <a:avLst/>
          </a:prstGeom>
        </p:spPr>
        <p:txBody>
          <a:bodyPr lIns="78401" tIns="39200" rIns="78401" bIns="39200"/>
          <a:lstStyle>
            <a:defPPr>
              <a:defRPr lang="en-US"/>
            </a:defPPr>
            <a:lvl1pPr marL="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03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0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12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16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19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23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2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31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399" dirty="0">
                <a:solidFill>
                  <a:schemeClr val="bg1"/>
                </a:solidFill>
                <a:latin typeface="Montserrat Light" panose="00000400000000000000" pitchFamily="50" charset="0"/>
              </a:rPr>
              <a:t>T</a:t>
            </a:r>
            <a:r>
              <a:rPr lang="en-US" sz="3399" dirty="0">
                <a:solidFill>
                  <a:schemeClr val="bg1"/>
                </a:solidFill>
                <a:latin typeface="Montserrat Light" panose="00000400000000000000" pitchFamily="50" charset="0"/>
              </a:rPr>
              <a:t>eam Members: Che FENG, YanZhe XIE, Ye GUO</a:t>
            </a:r>
          </a:p>
          <a:p>
            <a:pPr algn="ctr"/>
            <a:r>
              <a:rPr lang="en-US" sz="3399" dirty="0">
                <a:solidFill>
                  <a:schemeClr val="bg1"/>
                </a:solidFill>
                <a:latin typeface="Montserrat Light" panose="00000400000000000000" pitchFamily="50" charset="0"/>
              </a:rPr>
              <a:t>AIAA 4051 Final Research Project, Introduction to NLP, HKUST(GZ)</a:t>
            </a: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33A929B9-4AE7-4535-8E25-5C0801DF2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503" y="6274209"/>
            <a:ext cx="6886660" cy="2883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987" tIns="27994" rIns="55987" bIns="27994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1837" dirty="0"/>
              <a:t>LLMs can produce fluent QA answers, but judging correctness is difficult. Exact-match metrics miss valid paraphrases, while embedding similarity may capture meaning better. However, semantic similarity can confuse topic overlap with factual correctness, especially in long answers.</a:t>
            </a:r>
          </a:p>
          <a:p>
            <a:pPr algn="just"/>
            <a:endParaRPr lang="en-US" altLang="zh-CN" sz="1837" dirty="0"/>
          </a:p>
          <a:p>
            <a:pPr algn="just"/>
            <a:r>
              <a:rPr lang="en-US" altLang="zh-CN" sz="1837" b="1" dirty="0"/>
              <a:t>Research Question:</a:t>
            </a:r>
          </a:p>
          <a:p>
            <a:pPr algn="just"/>
            <a:r>
              <a:rPr lang="en-US" altLang="zh-CN" sz="1837" dirty="0"/>
              <a:t>Can </a:t>
            </a:r>
            <a:r>
              <a:rPr lang="en-US" altLang="zh-CN" sz="1837" dirty="0">
                <a:solidFill>
                  <a:srgbClr val="FF0000"/>
                </a:solidFill>
              </a:rPr>
              <a:t>cosine similarity</a:t>
            </a:r>
            <a:r>
              <a:rPr lang="en-US" altLang="zh-CN" sz="1837" dirty="0"/>
              <a:t> between prediction and reference embeddings distinguish correct from incorrect LLM-generated QA answers?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700EFA-F39A-4B67-A41D-B592D1296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04" y="5404493"/>
            <a:ext cx="6988023" cy="5348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168002" tIns="44800" rIns="168002" bIns="41990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2880008">
              <a:defRPr/>
            </a:pPr>
            <a:r>
              <a:rPr lang="en-US" sz="2205" b="1" dirty="0">
                <a:solidFill>
                  <a:schemeClr val="bg1"/>
                </a:solidFill>
                <a:latin typeface="Kermit Semibold Expanded" panose="020F0502020204030204" pitchFamily="34" charset="0"/>
              </a:rPr>
              <a:t>Problem Background</a:t>
            </a: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3C57D4F6-5B1E-4A2D-8728-4DE56B722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7423" y="6046600"/>
            <a:ext cx="7112720" cy="1752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987" tIns="27994" rIns="55987" bIns="27994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1837" b="1" dirty="0"/>
              <a:t>Experiment</a:t>
            </a:r>
            <a:endParaRPr lang="en-US" altLang="zh-CN" sz="1837" dirty="0"/>
          </a:p>
          <a:p>
            <a:pPr algn="just"/>
            <a:r>
              <a:rPr lang="en-US" altLang="zh-CN" sz="1837" dirty="0"/>
              <a:t>We evaluate the similarity-based correctness signal on both </a:t>
            </a:r>
            <a:r>
              <a:rPr lang="en-US" altLang="zh-CN" sz="1837" dirty="0">
                <a:solidFill>
                  <a:srgbClr val="FF0000"/>
                </a:solidFill>
              </a:rPr>
              <a:t>short-form</a:t>
            </a:r>
            <a:r>
              <a:rPr lang="en-US" altLang="zh-CN" sz="1837" dirty="0"/>
              <a:t> and</a:t>
            </a:r>
            <a:r>
              <a:rPr lang="en-US" altLang="zh-CN" sz="1837" dirty="0">
                <a:solidFill>
                  <a:srgbClr val="FF0000"/>
                </a:solidFill>
              </a:rPr>
              <a:t> long-form </a:t>
            </a:r>
            <a:r>
              <a:rPr lang="en-US" altLang="zh-CN" sz="1837" dirty="0"/>
              <a:t>QA datasets. The main experimental variable is reference granularity: short-form datasets usually provide compact answer spans, while NQ originally provides long Wikipedia evidence passages.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D4AEC4-FDA9-4DCC-AB41-6178867ED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7423" y="5404495"/>
            <a:ext cx="6988023" cy="5348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168002" tIns="44800" rIns="168002" bIns="41990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2880008">
              <a:defRPr/>
            </a:pPr>
            <a:r>
              <a:rPr lang="en-US" altLang="zh-CN" sz="2205" b="1" dirty="0">
                <a:solidFill>
                  <a:schemeClr val="bg1"/>
                </a:solidFill>
                <a:latin typeface="Kermit Semibold Expanded" panose="020F0502020204030204" pitchFamily="34" charset="0"/>
              </a:rPr>
              <a:t>Experiment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B18890-DE76-4473-9E1E-3198CB432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18177" y="5404495"/>
            <a:ext cx="6988023" cy="5348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168002" tIns="44800" rIns="168002" bIns="41990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2880008">
              <a:defRPr/>
            </a:pPr>
            <a:r>
              <a:rPr lang="en-US" sz="2205" b="1" kern="1400" dirty="0">
                <a:solidFill>
                  <a:schemeClr val="bg1"/>
                </a:solidFill>
                <a:latin typeface="Kermit Semibold Expanded" panose="020F0502020204030204" pitchFamily="34" charset="0"/>
              </a:rPr>
              <a:t>Results</a:t>
            </a: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0C0A07D8-0E58-42E5-B79C-184F9F822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21509" y="6048972"/>
            <a:ext cx="7338027" cy="395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987" tIns="27994" rIns="55987" bIns="27994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altLang="zh-CN" sz="2205" b="1" dirty="0"/>
              <a:t>1. Baselines &amp; Ablation Studies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009B54-5040-4B8B-91C3-ED7FF3B1B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02260" y="5404495"/>
            <a:ext cx="6988023" cy="5348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168002" tIns="44800" rIns="168002" bIns="41990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2880008">
              <a:defRPr/>
            </a:pPr>
            <a:r>
              <a:rPr lang="en-US" altLang="zh-CN" sz="2205" b="1" dirty="0">
                <a:solidFill>
                  <a:schemeClr val="bg1"/>
                </a:solidFill>
                <a:latin typeface="Kermit Semibold Expanded" panose="020F0502020204030204" pitchFamily="34" charset="0"/>
              </a:rPr>
              <a:t>Advanced</a:t>
            </a:r>
            <a:endParaRPr lang="en-US" sz="2205" b="1" dirty="0">
              <a:solidFill>
                <a:schemeClr val="bg1"/>
              </a:solidFill>
              <a:latin typeface="Kermit Semibold Expanded" panose="020F0502020204030204" pitchFamily="34" charset="0"/>
            </a:endParaRP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D73BEFC1-7549-40B5-A4BD-36562574D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767" y="17824265"/>
            <a:ext cx="6650063" cy="1902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987" tIns="27994" rIns="55987" bIns="27994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altLang="zh-CN" sz="1837" dirty="0"/>
              <a:t>The correctness label is </a:t>
            </a:r>
            <a:r>
              <a:rPr lang="en-US" altLang="zh-CN" sz="1837" dirty="0">
                <a:solidFill>
                  <a:srgbClr val="FF0000"/>
                </a:solidFill>
              </a:rPr>
              <a:t>automatically generated</a:t>
            </a:r>
            <a:r>
              <a:rPr lang="en-US" altLang="zh-CN" sz="1837" dirty="0"/>
              <a:t> rather than manually annotated. It combines exact match, token-level F1, and containment rules. Therefore, our evaluation measures whether embedding similarity agrees with a reproducible automatic correctness signal, while failure analysis identifies where this signal is noisy or incomplete.</a:t>
            </a:r>
            <a:endParaRPr lang="en-US" sz="1010" dirty="0">
              <a:latin typeface="Montserrat Light" panose="00000400000000000000" pitchFamily="50" charset="0"/>
              <a:cs typeface="Arial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93C6F59-1B0C-4EDA-8518-F88FAC8AF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87" y="13484225"/>
            <a:ext cx="6988023" cy="5348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168002" tIns="44800" rIns="168002" bIns="41990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2880008">
              <a:defRPr/>
            </a:pPr>
            <a:r>
              <a:rPr lang="en-US" altLang="zh-CN" sz="2205" b="1" dirty="0">
                <a:solidFill>
                  <a:schemeClr val="bg1"/>
                </a:solidFill>
                <a:latin typeface="Kermit Semibold Expanded" panose="020F0502020204030204" pitchFamily="34" charset="0"/>
              </a:rPr>
              <a:t>Methodology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A65223A-8CF5-7F25-50D3-5D87E43035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980143" y="10551811"/>
            <a:ext cx="280003" cy="280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4001" tIns="42000" rIns="84001" bIns="42000" numCol="1" anchor="t" anchorCtr="0" compatLnSpc="1">
            <a:prstTxWarp prst="textNoShape">
              <a:avLst/>
            </a:prstTxWarp>
          </a:bodyPr>
          <a:lstStyle/>
          <a:p>
            <a:endParaRPr lang="zh-CN" altLang="en-US" sz="2346"/>
          </a:p>
        </p:txBody>
      </p:sp>
      <p:sp>
        <p:nvSpPr>
          <p:cNvPr id="5" name="AutoShape 4" descr="已生成图片：流程图：工作流的8个步骤">
            <a:extLst>
              <a:ext uri="{FF2B5EF4-FFF2-40B4-BE49-F238E27FC236}">
                <a16:creationId xmlns:a16="http://schemas.microsoft.com/office/drawing/2014/main" id="{796CBC41-3C85-CB91-FD18-0A31508BC0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120144" y="10691812"/>
            <a:ext cx="280003" cy="280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4001" tIns="42000" rIns="84001" bIns="42000" numCol="1" anchor="t" anchorCtr="0" compatLnSpc="1">
            <a:prstTxWarp prst="textNoShape">
              <a:avLst/>
            </a:prstTxWarp>
          </a:bodyPr>
          <a:lstStyle/>
          <a:p>
            <a:endParaRPr lang="zh-CN" altLang="en-US" sz="2346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3274C90-5F3E-835F-E675-774E4D510D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530" b="14697"/>
          <a:stretch>
            <a:fillRect/>
          </a:stretch>
        </p:blipFill>
        <p:spPr>
          <a:xfrm>
            <a:off x="470766" y="14277541"/>
            <a:ext cx="6790065" cy="343003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59C40FE-6F92-161D-B4FD-899A0F2342E2}"/>
              </a:ext>
            </a:extLst>
          </p:cNvPr>
          <p:cNvSpPr txBox="1"/>
          <p:nvPr/>
        </p:nvSpPr>
        <p:spPr>
          <a:xfrm>
            <a:off x="7867423" y="7906826"/>
            <a:ext cx="6988023" cy="1788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837" b="1" dirty="0"/>
              <a:t>Setup</a:t>
            </a:r>
          </a:p>
          <a:p>
            <a:pPr algn="just"/>
            <a:r>
              <a:rPr lang="en-US" altLang="zh-CN" sz="1837" dirty="0"/>
              <a:t>LLM: Qwen2.5-7B-Instruct</a:t>
            </a:r>
          </a:p>
          <a:p>
            <a:pPr algn="just"/>
            <a:r>
              <a:rPr lang="en-US" altLang="zh-CN" sz="1837" dirty="0"/>
              <a:t>Embedding models: </a:t>
            </a:r>
            <a:r>
              <a:rPr lang="en-US" altLang="zh-CN" sz="1837" dirty="0" err="1">
                <a:solidFill>
                  <a:srgbClr val="FF0000"/>
                </a:solidFill>
              </a:rPr>
              <a:t>MiniLM</a:t>
            </a:r>
            <a:r>
              <a:rPr lang="en-US" altLang="zh-CN" sz="1837" dirty="0"/>
              <a:t> and </a:t>
            </a:r>
            <a:r>
              <a:rPr lang="en-US" altLang="zh-CN" sz="1837" dirty="0">
                <a:solidFill>
                  <a:srgbClr val="FF0000"/>
                </a:solidFill>
              </a:rPr>
              <a:t>BGE</a:t>
            </a:r>
          </a:p>
          <a:p>
            <a:pPr algn="just"/>
            <a:r>
              <a:rPr lang="en-US" altLang="zh-CN" sz="1837" dirty="0"/>
              <a:t>Similarity metric: cosine similarity</a:t>
            </a:r>
          </a:p>
          <a:p>
            <a:pPr algn="just"/>
            <a:r>
              <a:rPr lang="en-US" altLang="zh-CN" sz="1837" dirty="0"/>
              <a:t>Decision rule: similarity ≥ threshold → predicted correct</a:t>
            </a:r>
          </a:p>
          <a:p>
            <a:pPr algn="just"/>
            <a:r>
              <a:rPr lang="en-US" altLang="zh-CN" sz="1837" dirty="0"/>
              <a:t>Labels: rule-based automatic </a:t>
            </a:r>
            <a:r>
              <a:rPr lang="en-US" altLang="zh-CN" sz="1837" dirty="0" err="1"/>
              <a:t>correct_label</a:t>
            </a:r>
            <a:endParaRPr lang="zh-CN" altLang="en-US" sz="1837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9BB0470-090E-6CDE-EB69-7C1B62BC0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564263"/>
              </p:ext>
            </p:extLst>
          </p:nvPr>
        </p:nvGraphicFramePr>
        <p:xfrm>
          <a:off x="7910075" y="9815338"/>
          <a:ext cx="7000066" cy="3010030"/>
        </p:xfrm>
        <a:graphic>
          <a:graphicData uri="http://schemas.openxmlformats.org/drawingml/2006/table">
            <a:tbl>
              <a:tblPr/>
              <a:tblGrid>
                <a:gridCol w="3500033">
                  <a:extLst>
                    <a:ext uri="{9D8B030D-6E8A-4147-A177-3AD203B41FA5}">
                      <a16:colId xmlns:a16="http://schemas.microsoft.com/office/drawing/2014/main" val="1255420624"/>
                    </a:ext>
                  </a:extLst>
                </a:gridCol>
                <a:gridCol w="3500033">
                  <a:extLst>
                    <a:ext uri="{9D8B030D-6E8A-4147-A177-3AD203B41FA5}">
                      <a16:colId xmlns:a16="http://schemas.microsoft.com/office/drawing/2014/main" val="3230895635"/>
                    </a:ext>
                  </a:extLst>
                </a:gridCol>
              </a:tblGrid>
              <a:tr h="3150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Metric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Purpose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472285"/>
                  </a:ext>
                </a:extLst>
              </a:tr>
              <a:tr h="59500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>
                          <a:effectLst/>
                        </a:rPr>
                        <a:t>ROC-AUC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 dirty="0">
                          <a:effectLst/>
                        </a:rPr>
                        <a:t>Measures ranking quality across all thresholds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097232"/>
                  </a:ext>
                </a:extLst>
              </a:tr>
              <a:tr h="59500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>
                          <a:effectLst/>
                        </a:rPr>
                        <a:t>Best F1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 dirty="0">
                          <a:effectLst/>
                        </a:rPr>
                        <a:t>Finds the strongest threshold-based classifier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716525"/>
                  </a:ext>
                </a:extLst>
              </a:tr>
              <a:tr h="31500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 dirty="0">
                          <a:effectLst/>
                        </a:rPr>
                        <a:t>Fixed-threshold F1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>
                          <a:effectLst/>
                        </a:rPr>
                        <a:t>Tests a simple global threshold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333614"/>
                  </a:ext>
                </a:extLst>
              </a:tr>
              <a:tr h="59500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>
                          <a:effectLst/>
                        </a:rPr>
                        <a:t>Similarity Gap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 dirty="0">
                          <a:effectLst/>
                        </a:rPr>
                        <a:t>Difference between correct and incorrect mean similarity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498257"/>
                  </a:ext>
                </a:extLst>
              </a:tr>
              <a:tr h="59500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 dirty="0">
                          <a:effectLst/>
                        </a:rPr>
                        <a:t>Failure Counts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 dirty="0">
                          <a:effectLst/>
                        </a:rPr>
                        <a:t>Counts high-similarity wrong and low-similarity correct cases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305608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6CB04390-BCE3-64E6-9706-31DD646CF7B5}"/>
              </a:ext>
            </a:extLst>
          </p:cNvPr>
          <p:cNvSpPr txBox="1"/>
          <p:nvPr/>
        </p:nvSpPr>
        <p:spPr>
          <a:xfrm>
            <a:off x="7867423" y="13116666"/>
            <a:ext cx="2870027" cy="375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37" b="1" dirty="0"/>
              <a:t>Dataset</a:t>
            </a:r>
            <a:endParaRPr lang="zh-CN" altLang="en-US" sz="1837" b="1" dirty="0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EBDDDBC8-74E8-47C4-404D-CEA9970337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799875"/>
              </p:ext>
            </p:extLst>
          </p:nvPr>
        </p:nvGraphicFramePr>
        <p:xfrm>
          <a:off x="15457495" y="6326319"/>
          <a:ext cx="7112720" cy="3192520"/>
        </p:xfrm>
        <a:graphic>
          <a:graphicData uri="http://schemas.openxmlformats.org/drawingml/2006/table">
            <a:tbl>
              <a:tblPr/>
              <a:tblGrid>
                <a:gridCol w="1422544">
                  <a:extLst>
                    <a:ext uri="{9D8B030D-6E8A-4147-A177-3AD203B41FA5}">
                      <a16:colId xmlns:a16="http://schemas.microsoft.com/office/drawing/2014/main" val="7684807"/>
                    </a:ext>
                  </a:extLst>
                </a:gridCol>
                <a:gridCol w="1422544">
                  <a:extLst>
                    <a:ext uri="{9D8B030D-6E8A-4147-A177-3AD203B41FA5}">
                      <a16:colId xmlns:a16="http://schemas.microsoft.com/office/drawing/2014/main" val="3785477738"/>
                    </a:ext>
                  </a:extLst>
                </a:gridCol>
                <a:gridCol w="1422544">
                  <a:extLst>
                    <a:ext uri="{9D8B030D-6E8A-4147-A177-3AD203B41FA5}">
                      <a16:colId xmlns:a16="http://schemas.microsoft.com/office/drawing/2014/main" val="917514863"/>
                    </a:ext>
                  </a:extLst>
                </a:gridCol>
                <a:gridCol w="1422544">
                  <a:extLst>
                    <a:ext uri="{9D8B030D-6E8A-4147-A177-3AD203B41FA5}">
                      <a16:colId xmlns:a16="http://schemas.microsoft.com/office/drawing/2014/main" val="1320934244"/>
                    </a:ext>
                  </a:extLst>
                </a:gridCol>
                <a:gridCol w="1422544">
                  <a:extLst>
                    <a:ext uri="{9D8B030D-6E8A-4147-A177-3AD203B41FA5}">
                      <a16:colId xmlns:a16="http://schemas.microsoft.com/office/drawing/2014/main" val="141442971"/>
                    </a:ext>
                  </a:extLst>
                </a:gridCol>
              </a:tblGrid>
              <a:tr h="40369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Dataset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Type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>
                          <a:solidFill>
                            <a:sysClr val="windowText" lastClr="000000"/>
                          </a:solidFill>
                          <a:effectLst/>
                        </a:rPr>
                        <a:t>MiniLM ROC-AUC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BGE ROC-AUC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Finding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226781"/>
                  </a:ext>
                </a:extLst>
              </a:tr>
              <a:tr h="23762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>
                          <a:effectLst/>
                        </a:rPr>
                        <a:t>SciQ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>
                          <a:effectLst/>
                        </a:rPr>
                        <a:t>Short-form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sz="1800" dirty="0">
                          <a:effectLst/>
                        </a:rPr>
                        <a:t>0.962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sz="1800">
                          <a:effectLst/>
                        </a:rPr>
                        <a:t>0.964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>
                          <a:effectLst/>
                        </a:rPr>
                        <a:t>Strong signal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325121"/>
                  </a:ext>
                </a:extLst>
              </a:tr>
              <a:tr h="40369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>
                          <a:effectLst/>
                        </a:rPr>
                        <a:t>SimpleQ-Wiki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>
                          <a:effectLst/>
                        </a:rPr>
                        <a:t>Short-form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sz="1800" dirty="0">
                          <a:effectLst/>
                        </a:rPr>
                        <a:t>0.987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sz="1800">
                          <a:effectLst/>
                        </a:rPr>
                        <a:t>0.990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 dirty="0">
                          <a:effectLst/>
                        </a:rPr>
                        <a:t>Strongest signal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448201"/>
                  </a:ext>
                </a:extLst>
              </a:tr>
              <a:tr h="40369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>
                          <a:effectLst/>
                        </a:rPr>
                        <a:t>TruthfulQA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>
                          <a:effectLst/>
                        </a:rPr>
                        <a:t>Long-form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sz="1800" dirty="0">
                          <a:effectLst/>
                        </a:rPr>
                        <a:t>0.852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sz="1800" dirty="0">
                          <a:effectLst/>
                        </a:rPr>
                        <a:t>0.903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 dirty="0">
                          <a:effectLst/>
                        </a:rPr>
                        <a:t>Useful but harder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677505"/>
                  </a:ext>
                </a:extLst>
              </a:tr>
              <a:tr h="78318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>
                          <a:effectLst/>
                        </a:rPr>
                        <a:t>NQ Original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>
                          <a:effectLst/>
                        </a:rPr>
                        <a:t>Long-form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sz="1800">
                          <a:effectLst/>
                        </a:rPr>
                        <a:t>0.276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sz="1800" dirty="0">
                          <a:effectLst/>
                        </a:rPr>
                        <a:t>0.381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 dirty="0">
                          <a:effectLst/>
                        </a:rPr>
                        <a:t>Fails under long-reference mismatch</a:t>
                      </a:r>
                    </a:p>
                  </a:txBody>
                  <a:tcPr marL="17500" marR="17500" marT="17500" marB="17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871812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27F0DDF6-A18C-4174-5041-63A808CE778F}"/>
              </a:ext>
            </a:extLst>
          </p:cNvPr>
          <p:cNvSpPr txBox="1"/>
          <p:nvPr/>
        </p:nvSpPr>
        <p:spPr>
          <a:xfrm>
            <a:off x="15487191" y="13130212"/>
            <a:ext cx="7000067" cy="1788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837" dirty="0"/>
              <a:t>• Short-form QA shows </a:t>
            </a:r>
            <a:r>
              <a:rPr lang="en-US" altLang="zh-CN" sz="1837" dirty="0">
                <a:solidFill>
                  <a:srgbClr val="FF0000"/>
                </a:solidFill>
              </a:rPr>
              <a:t>strong separation </a:t>
            </a:r>
            <a:r>
              <a:rPr lang="en-US" altLang="zh-CN" sz="1837" dirty="0"/>
              <a:t>between correct and incorrect predictions.</a:t>
            </a:r>
          </a:p>
          <a:p>
            <a:pPr algn="just"/>
            <a:r>
              <a:rPr lang="en-US" altLang="zh-CN" sz="1837" dirty="0"/>
              <a:t>• </a:t>
            </a:r>
            <a:r>
              <a:rPr lang="en-US" altLang="zh-CN" sz="1837" dirty="0" err="1"/>
              <a:t>TruthfulQA</a:t>
            </a:r>
            <a:r>
              <a:rPr lang="en-US" altLang="zh-CN" sz="1837" dirty="0"/>
              <a:t> remains positive but is harder due to open-ended factual statements.</a:t>
            </a:r>
          </a:p>
          <a:p>
            <a:pPr algn="just"/>
            <a:r>
              <a:rPr lang="en-US" altLang="zh-CN" sz="1837" dirty="0"/>
              <a:t>• Original NQ fails because short answers are compared with </a:t>
            </a:r>
            <a:r>
              <a:rPr lang="en-US" altLang="zh-CN" sz="1837" dirty="0">
                <a:solidFill>
                  <a:srgbClr val="FF0000"/>
                </a:solidFill>
              </a:rPr>
              <a:t>long evidence passages</a:t>
            </a:r>
            <a:r>
              <a:rPr lang="en-US" altLang="zh-CN" sz="1837" dirty="0"/>
              <a:t>.</a:t>
            </a:r>
          </a:p>
        </p:txBody>
      </p:sp>
      <p:sp>
        <p:nvSpPr>
          <p:cNvPr id="62" name="TextBox 19">
            <a:extLst>
              <a:ext uri="{FF2B5EF4-FFF2-40B4-BE49-F238E27FC236}">
                <a16:creationId xmlns:a16="http://schemas.microsoft.com/office/drawing/2014/main" id="{F64C49B5-FB0D-0342-D9BC-9658A25A9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86509" y="11100189"/>
            <a:ext cx="7338027" cy="395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987" tIns="27994" rIns="55987" bIns="27994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altLang="zh-CN" sz="2205" b="1" dirty="0"/>
              <a:t>2. Theory: Multi-View Embedding Evaluator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5287F8F-1EA1-F34C-512A-80A422049387}"/>
              </a:ext>
            </a:extLst>
          </p:cNvPr>
          <p:cNvSpPr txBox="1"/>
          <p:nvPr/>
        </p:nvSpPr>
        <p:spPr>
          <a:xfrm>
            <a:off x="22970163" y="11537426"/>
            <a:ext cx="8388038" cy="150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37" b="1" dirty="0"/>
              <a:t>Core Idea</a:t>
            </a:r>
            <a:endParaRPr lang="en-US" altLang="zh-CN" sz="1837" dirty="0"/>
          </a:p>
          <a:p>
            <a:r>
              <a:rPr lang="en-US" altLang="zh-CN" sz="1837" dirty="0"/>
              <a:t>    Correctness ≠ semantic similarity only</a:t>
            </a:r>
          </a:p>
          <a:p>
            <a:r>
              <a:rPr lang="en-US" altLang="zh-CN" sz="1837" dirty="0"/>
              <a:t>    </a:t>
            </a:r>
            <a:r>
              <a:rPr lang="en-US" altLang="zh-CN" sz="1837" dirty="0">
                <a:solidFill>
                  <a:srgbClr val="FF0000"/>
                </a:solidFill>
              </a:rPr>
              <a:t>Correctness = semantic match + lexical evidence + </a:t>
            </a:r>
          </a:p>
          <a:p>
            <a:r>
              <a:rPr lang="en-US" altLang="zh-CN" sz="1837" dirty="0">
                <a:solidFill>
                  <a:srgbClr val="FF0000"/>
                </a:solidFill>
              </a:rPr>
              <a:t>                            factual-unit consistency + answer granularity + </a:t>
            </a:r>
          </a:p>
          <a:p>
            <a:r>
              <a:rPr lang="en-US" altLang="zh-CN" sz="1837" dirty="0">
                <a:solidFill>
                  <a:srgbClr val="FF0000"/>
                </a:solidFill>
              </a:rPr>
              <a:t>                           question-type awareness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E83F45FF-99ED-20B1-FE4C-ED6266867B0C}"/>
              </a:ext>
            </a:extLst>
          </p:cNvPr>
          <p:cNvSpPr txBox="1"/>
          <p:nvPr/>
        </p:nvSpPr>
        <p:spPr>
          <a:xfrm>
            <a:off x="22821508" y="6622676"/>
            <a:ext cx="7068377" cy="4332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837" dirty="0"/>
              <a:t>We treat every improvement as an ablation. Starting from sentence-level embedding cosine, we compare lexical baselines, entity/token overlap, embedding-overlap hybrids, NQ reference extraction, prediction-span similarity, factual conflict penalties, and reduced multi-view hybrid scores.</a:t>
            </a:r>
          </a:p>
          <a:p>
            <a:pPr algn="just"/>
            <a:endParaRPr lang="zh-CN" altLang="en-US" sz="1837" dirty="0"/>
          </a:p>
          <a:p>
            <a:pPr algn="just"/>
            <a:r>
              <a:rPr lang="zh-CN" altLang="en-US" sz="1837" b="1" dirty="0"/>
              <a:t>Key results:</a:t>
            </a:r>
          </a:p>
          <a:p>
            <a:pPr algn="just"/>
            <a:r>
              <a:rPr lang="zh-CN" altLang="en-US" sz="1837" dirty="0"/>
              <a:t>• NQ reference_answer extraction improves ROC-AUC from </a:t>
            </a:r>
            <a:r>
              <a:rPr lang="zh-CN" altLang="en-US" sz="1837" dirty="0">
                <a:solidFill>
                  <a:srgbClr val="FF0000"/>
                </a:solidFill>
              </a:rPr>
              <a:t>0.269/0.391 </a:t>
            </a:r>
            <a:r>
              <a:rPr lang="zh-CN" altLang="en-US" sz="1837" dirty="0"/>
              <a:t>to </a:t>
            </a:r>
            <a:r>
              <a:rPr lang="zh-CN" altLang="en-US" sz="1837" dirty="0">
                <a:solidFill>
                  <a:srgbClr val="FF0000"/>
                </a:solidFill>
              </a:rPr>
              <a:t>0.705/0.711</a:t>
            </a:r>
            <a:r>
              <a:rPr lang="en-US" altLang="zh-CN" sz="1837" dirty="0">
                <a:solidFill>
                  <a:srgbClr val="FF0000"/>
                </a:solidFill>
              </a:rPr>
              <a:t>.</a:t>
            </a:r>
            <a:endParaRPr lang="zh-CN" altLang="en-US" sz="1837" dirty="0">
              <a:solidFill>
                <a:srgbClr val="FF0000"/>
              </a:solidFill>
            </a:endParaRPr>
          </a:p>
          <a:p>
            <a:pPr algn="just"/>
            <a:r>
              <a:rPr lang="zh-CN" altLang="en-US" sz="1837" dirty="0"/>
              <a:t>• Span-level similarity greatly improves ranking, with best F1 around </a:t>
            </a:r>
            <a:r>
              <a:rPr lang="zh-CN" altLang="en-US" sz="1837" dirty="0">
                <a:solidFill>
                  <a:srgbClr val="FF0000"/>
                </a:solidFill>
              </a:rPr>
              <a:t>0.80</a:t>
            </a:r>
            <a:r>
              <a:rPr lang="zh-CN" altLang="en-US" sz="1837" dirty="0"/>
              <a:t>.</a:t>
            </a:r>
          </a:p>
          <a:p>
            <a:pPr algn="just"/>
            <a:r>
              <a:rPr lang="zh-CN" altLang="en-US" sz="1837" dirty="0"/>
              <a:t>• Factual conflict penalties reduce high-similarity wrong cases caused by number/date/entity mismatch.</a:t>
            </a:r>
          </a:p>
          <a:p>
            <a:pPr algn="just"/>
            <a:r>
              <a:rPr lang="zh-CN" altLang="en-US" sz="1837" dirty="0"/>
              <a:t>• Unit 6 span-guarded multi-view hybrid gives the best fixed-threshold performance: </a:t>
            </a:r>
            <a:r>
              <a:rPr lang="zh-CN" altLang="en-US" sz="1837" dirty="0">
                <a:solidFill>
                  <a:srgbClr val="FF0000"/>
                </a:solidFill>
              </a:rPr>
              <a:t>MiniLM F1 = 0.725, BGE F1 = 0.701.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22C1CDEC-EED2-5F9E-C207-D966B311A9E6}"/>
              </a:ext>
            </a:extLst>
          </p:cNvPr>
          <p:cNvSpPr txBox="1"/>
          <p:nvPr/>
        </p:nvSpPr>
        <p:spPr>
          <a:xfrm>
            <a:off x="22889410" y="13283554"/>
            <a:ext cx="7208779" cy="65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37" dirty="0"/>
              <a:t>This keeps embedding similarity as one useful signal, but prevents it from becoming the only judge of factual correctness.</a:t>
            </a:r>
            <a:endParaRPr lang="zh-CN" altLang="en-US" sz="1837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32183736-B68B-EAB2-FDA6-6936CF467056}"/>
              </a:ext>
            </a:extLst>
          </p:cNvPr>
          <p:cNvSpPr txBox="1"/>
          <p:nvPr/>
        </p:nvSpPr>
        <p:spPr>
          <a:xfrm>
            <a:off x="22786509" y="14140543"/>
            <a:ext cx="2696599" cy="431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2"/>
              </a:spcBef>
              <a:spcAft>
                <a:spcPts val="551"/>
              </a:spcAft>
            </a:pPr>
            <a:r>
              <a:rPr lang="en-US" altLang="zh-CN" sz="2205" b="1" dirty="0">
                <a:latin typeface="+mj-lt"/>
              </a:rPr>
              <a:t>3. Case Studies</a:t>
            </a:r>
          </a:p>
        </p:txBody>
      </p:sp>
      <p:graphicFrame>
        <p:nvGraphicFramePr>
          <p:cNvPr id="71" name="表格 70">
            <a:extLst>
              <a:ext uri="{FF2B5EF4-FFF2-40B4-BE49-F238E27FC236}">
                <a16:creationId xmlns:a16="http://schemas.microsoft.com/office/drawing/2014/main" id="{537EDBE5-73FE-C266-5E1B-66B1CB4EA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416915"/>
              </p:ext>
            </p:extLst>
          </p:nvPr>
        </p:nvGraphicFramePr>
        <p:xfrm>
          <a:off x="22781131" y="14986547"/>
          <a:ext cx="7418778" cy="2739989"/>
        </p:xfrm>
        <a:graphic>
          <a:graphicData uri="http://schemas.openxmlformats.org/drawingml/2006/table">
            <a:tbl>
              <a:tblPr/>
              <a:tblGrid>
                <a:gridCol w="3709389">
                  <a:extLst>
                    <a:ext uri="{9D8B030D-6E8A-4147-A177-3AD203B41FA5}">
                      <a16:colId xmlns:a16="http://schemas.microsoft.com/office/drawing/2014/main" val="2664288358"/>
                    </a:ext>
                  </a:extLst>
                </a:gridCol>
                <a:gridCol w="3709389">
                  <a:extLst>
                    <a:ext uri="{9D8B030D-6E8A-4147-A177-3AD203B41FA5}">
                      <a16:colId xmlns:a16="http://schemas.microsoft.com/office/drawing/2014/main" val="3090485013"/>
                    </a:ext>
                  </a:extLst>
                </a:gridCol>
              </a:tblGrid>
              <a:tr h="31500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Field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Content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61935"/>
                  </a:ext>
                </a:extLst>
              </a:tr>
              <a:tr h="5950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dirty="0">
                          <a:solidFill>
                            <a:sysClr val="windowText" lastClr="000000"/>
                          </a:solidFill>
                          <a:effectLst/>
                        </a:rPr>
                        <a:t>Question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</a:rPr>
                        <a:t>Which river is the water source for Victoria Falls?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434386"/>
                  </a:ext>
                </a:extLst>
              </a:tr>
              <a:tr h="31500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</a:rPr>
                        <a:t>Prediction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Consolas" panose="020B0609020204030204" pitchFamily="49" charset="0"/>
                        </a:rPr>
                        <a:t>Zambezi River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293786"/>
                  </a:ext>
                </a:extLst>
              </a:tr>
              <a:tr h="32496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</a:rPr>
                        <a:t>Original Reference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</a:rPr>
                        <a:t>Long passage about Victoria Falls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690198"/>
                  </a:ext>
                </a:extLst>
              </a:tr>
              <a:tr h="5950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</a:rPr>
                        <a:t>Problem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</a:rPr>
                        <a:t>Correct short answer is compared with a long evidence passage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540255"/>
                  </a:ext>
                </a:extLst>
              </a:tr>
              <a:tr h="5950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dirty="0">
                          <a:solidFill>
                            <a:sysClr val="windowText" lastClr="000000"/>
                          </a:solidFill>
                          <a:effectLst/>
                        </a:rPr>
                        <a:t>Fix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dirty="0">
                          <a:solidFill>
                            <a:sysClr val="windowText" lastClr="000000"/>
                          </a:solidFill>
                          <a:effectLst/>
                        </a:rPr>
                        <a:t>Extract </a:t>
                      </a:r>
                      <a:r>
                        <a:rPr lang="en-US" sz="1800" dirty="0" err="1">
                          <a:solidFill>
                            <a:sysClr val="windowText" lastClr="000000"/>
                          </a:solidFill>
                          <a:effectLst/>
                          <a:latin typeface="Consolas" panose="020B0609020204030204" pitchFamily="49" charset="0"/>
                        </a:rPr>
                        <a:t>reference_answer</a:t>
                      </a:r>
                      <a:r>
                        <a:rPr lang="en-US" sz="1800" dirty="0">
                          <a:solidFill>
                            <a:sysClr val="windowText" lastClr="000000"/>
                          </a:solidFill>
                          <a:effectLst/>
                          <a:latin typeface="Consolas" panose="020B0609020204030204" pitchFamily="49" charset="0"/>
                        </a:rPr>
                        <a:t> = Zambezi River</a:t>
                      </a:r>
                      <a:endParaRPr lang="en-US" sz="18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241037"/>
                  </a:ext>
                </a:extLst>
              </a:tr>
            </a:tbl>
          </a:graphicData>
        </a:graphic>
      </p:graphicFrame>
      <p:graphicFrame>
        <p:nvGraphicFramePr>
          <p:cNvPr id="72" name="表格 71">
            <a:extLst>
              <a:ext uri="{FF2B5EF4-FFF2-40B4-BE49-F238E27FC236}">
                <a16:creationId xmlns:a16="http://schemas.microsoft.com/office/drawing/2014/main" id="{534E5537-264B-CC3A-5A09-DB6C178A66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191666"/>
              </p:ext>
            </p:extLst>
          </p:nvPr>
        </p:nvGraphicFramePr>
        <p:xfrm>
          <a:off x="22732004" y="18181883"/>
          <a:ext cx="7392530" cy="2170021"/>
        </p:xfrm>
        <a:graphic>
          <a:graphicData uri="http://schemas.openxmlformats.org/drawingml/2006/table">
            <a:tbl>
              <a:tblPr/>
              <a:tblGrid>
                <a:gridCol w="3696265">
                  <a:extLst>
                    <a:ext uri="{9D8B030D-6E8A-4147-A177-3AD203B41FA5}">
                      <a16:colId xmlns:a16="http://schemas.microsoft.com/office/drawing/2014/main" val="1557982164"/>
                    </a:ext>
                  </a:extLst>
                </a:gridCol>
                <a:gridCol w="3696265">
                  <a:extLst>
                    <a:ext uri="{9D8B030D-6E8A-4147-A177-3AD203B41FA5}">
                      <a16:colId xmlns:a16="http://schemas.microsoft.com/office/drawing/2014/main" val="2705791212"/>
                    </a:ext>
                  </a:extLst>
                </a:gridCol>
              </a:tblGrid>
              <a:tr h="31500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>
                          <a:solidFill>
                            <a:sysClr val="windowText" lastClr="000000"/>
                          </a:solidFill>
                          <a:effectLst/>
                        </a:rPr>
                        <a:t>Field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>
                          <a:solidFill>
                            <a:sysClr val="windowText" lastClr="000000"/>
                          </a:solidFill>
                          <a:effectLst/>
                        </a:rPr>
                        <a:t>Content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693609"/>
                  </a:ext>
                </a:extLst>
              </a:tr>
              <a:tr h="5950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dirty="0">
                          <a:solidFill>
                            <a:sysClr val="windowText" lastClr="000000"/>
                          </a:solidFill>
                          <a:effectLst/>
                        </a:rPr>
                        <a:t>Question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</a:rPr>
                        <a:t>Who owns Aquarius Casino in Laughlin, NV?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021888"/>
                  </a:ext>
                </a:extLst>
              </a:tr>
              <a:tr h="31500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</a:rPr>
                        <a:t>Reference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Consolas" panose="020B0609020204030204" pitchFamily="49" charset="0"/>
                        </a:rPr>
                        <a:t>Golden Entertainment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998397"/>
                  </a:ext>
                </a:extLst>
              </a:tr>
              <a:tr h="31500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</a:rPr>
                        <a:t>Prediction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Consolas" panose="020B0609020204030204" pitchFamily="49" charset="0"/>
                        </a:rPr>
                        <a:t>Caesars Entertainment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236520"/>
                  </a:ext>
                </a:extLst>
              </a:tr>
              <a:tr h="31500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</a:rPr>
                        <a:t>Problem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</a:rPr>
                        <a:t>Same topic, wrong entity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486074"/>
                  </a:ext>
                </a:extLst>
              </a:tr>
              <a:tr h="31500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dirty="0">
                          <a:solidFill>
                            <a:sysClr val="windowText" lastClr="000000"/>
                          </a:solidFill>
                          <a:effectLst/>
                        </a:rPr>
                        <a:t>Needed View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dirty="0">
                          <a:solidFill>
                            <a:sysClr val="windowText" lastClr="000000"/>
                          </a:solidFill>
                          <a:effectLst/>
                        </a:rPr>
                        <a:t>Entity consistency / verifier</a:t>
                      </a:r>
                    </a:p>
                  </a:txBody>
                  <a:tcPr marL="17500" marR="17500" marT="17500" marB="17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679695"/>
                  </a:ext>
                </a:extLst>
              </a:tr>
            </a:tbl>
          </a:graphicData>
        </a:graphic>
      </p:graphicFrame>
      <p:sp>
        <p:nvSpPr>
          <p:cNvPr id="73" name="文本框 72">
            <a:extLst>
              <a:ext uri="{FF2B5EF4-FFF2-40B4-BE49-F238E27FC236}">
                <a16:creationId xmlns:a16="http://schemas.microsoft.com/office/drawing/2014/main" id="{2425F675-4620-CBF0-60AD-DB38A71E92A1}"/>
              </a:ext>
            </a:extLst>
          </p:cNvPr>
          <p:cNvSpPr txBox="1"/>
          <p:nvPr/>
        </p:nvSpPr>
        <p:spPr>
          <a:xfrm>
            <a:off x="22732007" y="14575813"/>
            <a:ext cx="2274576" cy="375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37" dirty="0"/>
              <a:t>Case Study1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1CDC11BB-6F63-DF2C-90C8-24B778DA124B}"/>
              </a:ext>
            </a:extLst>
          </p:cNvPr>
          <p:cNvSpPr txBox="1"/>
          <p:nvPr/>
        </p:nvSpPr>
        <p:spPr>
          <a:xfrm>
            <a:off x="22610218" y="17760962"/>
            <a:ext cx="2274576" cy="375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37" dirty="0"/>
              <a:t>Case Study2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3C405104-E1D5-7A14-D261-ECF7DDAE1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70" y="9158114"/>
            <a:ext cx="6988023" cy="406762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421E00F0-0649-CEF7-3896-B36FF9201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553" y="13584257"/>
            <a:ext cx="7000066" cy="3340280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BBE52DA0-86A9-3EDA-DD70-DF4223DA99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77344" y="18121906"/>
            <a:ext cx="6580175" cy="2416372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B9BDD720-72C8-EDC2-6289-8585F19B86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32040" y="14915800"/>
            <a:ext cx="6812116" cy="3065452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E42D188A-6EED-C86C-4670-5C42708A8D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0075" y="17259270"/>
            <a:ext cx="6905269" cy="3111323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685A8195-890B-9402-165F-6E0C468DA7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70150" y="9624461"/>
            <a:ext cx="7112720" cy="3445914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intellectualsage|08-2022"/>
</p:tagLst>
</file>

<file path=ppt/theme/theme1.xml><?xml version="1.0" encoding="utf-8"?>
<a:theme xmlns:a="http://schemas.openxmlformats.org/drawingml/2006/main" name="Default Desig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3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3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2642</TotalTime>
  <Words>631</Words>
  <Application>Microsoft Office PowerPoint</Application>
  <PresentationFormat>自定义</PresentationFormat>
  <Paragraphs>104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Libre Baskerville</vt:lpstr>
      <vt:lpstr>Montserrat Light</vt:lpstr>
      <vt:lpstr>Arial</vt:lpstr>
      <vt:lpstr>Consolas</vt:lpstr>
      <vt:lpstr>Kermit Semibold Expanded</vt:lpstr>
      <vt:lpstr>Default Design</vt:lpstr>
      <vt:lpstr>PowerPoint 演示文稿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to make a scientific poster</dc:title>
  <dc:subject>Free Research Poster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Ye GUO</cp:lastModifiedBy>
  <cp:revision>36</cp:revision>
  <dcterms:modified xsi:type="dcterms:W3CDTF">2026-05-18T06:18:16Z</dcterms:modified>
  <cp:category>templates for scientific poster</cp:category>
</cp:coreProperties>
</file>